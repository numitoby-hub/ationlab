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798" r:id="rId2"/>
    <p:sldId id="270" r:id="rId3"/>
    <p:sldId id="269" r:id="rId4"/>
    <p:sldId id="268" r:id="rId5"/>
    <p:sldId id="26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796E3"/>
    <a:srgbClr val="DDE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 varScale="1">
        <p:scale>
          <a:sx n="98" d="100"/>
          <a:sy n="98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95003-EB4C-8247-8E8F-58EF57893FE1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53CBD-9ED5-EA43-A70A-74CC36A510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660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BCA25-61CD-4805-905E-4BC8FA289A5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418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53CBD-9ED5-EA43-A70A-74CC36A510C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5299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7D600-36DC-A62E-FD1A-2A2679AB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AFF274-971B-494E-BCE0-2119EDF3B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117426-6BBE-CD04-6579-D8A21ED7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F19E4A-78F6-A64B-06F1-68AD71BC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B4313-13EB-DF1D-2505-03D9B457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699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89825-9C5C-D436-FA70-AB436BD2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9BACE-C066-AF31-C455-8E09FECE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79E6D-D5AD-3D86-5A78-5D317F4A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4F75C9-4BAC-854C-823C-A8835DD4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5F06A-5AD1-C253-6367-5F024F74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512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4065D-17E8-ACDF-2545-1A8C8667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800A06-9362-1A36-A1C7-1DC321362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91D54F-3A5C-7C16-6DD5-E32A48F0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31663-8FAC-2FBC-5D3F-8FE0643D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5E15D-87A4-6F72-DA5A-3C27B25B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697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E5722-736B-7E06-8B98-5674AC9D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916E86-3DB3-9E56-4A6E-A9B0CEEDF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143058-4F82-48B1-90F3-75EDE7C3B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D077F-7DF8-41B9-92D3-9135875B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D6770F-2D4E-F545-E6B6-4857FFBB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A58FB0-42DA-1D24-4D7E-6E4EB5F1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973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5542A-FDC0-384B-47B9-337B6D8A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57205-1655-60D7-102A-D2E878D8B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645D10-0BD0-7175-C1EA-4DF8F07D0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6F0BB2-013B-7C61-00D6-DBD5B853B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2014F-B127-F2EE-4B63-8553A33D7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E4B1ED-7ADD-7625-0884-D77A0F50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1AED2C-1892-A315-8982-B8F0B61F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CEB58B-093F-FCB8-FE2A-545DD43A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653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88C4C-7F57-ABD8-B855-A6D290FC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033FD-E972-839C-2805-9310DD0E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EC072A-5382-B816-56EA-9B4FA033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9BAAC3-548D-FA55-FC1D-9DD01D63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128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9E121F-60FC-4954-EEF2-3449DA71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041A97-8A54-C4ED-4812-DADBB05E3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0FE8A0-C262-5B99-9DF8-8912A248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87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D9C3E-E80F-C342-6BF4-AD0FE8F3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9DA01-E9CD-26F7-0ABA-D8CFFDBB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CD05C9-E880-DB76-58D8-ACE15B8A4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6A2BE9-289A-DC68-6B16-F26D930A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AEC352-DF06-AA6F-9C67-EEA63E90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D3DB3-F02B-966E-245A-6AE1D4E4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010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2C328-4CAA-D296-C3A5-ADC2450B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1E605A-51F1-4E89-7D54-CE3475B4A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638474-5CE4-01BF-7896-AB486F957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DA43A-9BB9-34AE-843E-5B0EF277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AA2B1-15F5-4486-5F1F-EB0C9D55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9023E-DC94-5E84-A765-352487A9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10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C75D7-C83C-2909-3126-DD6D57F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E1858A-4BF3-DE64-8092-B31234E2D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A72E5-22CF-70F9-F837-A3F24390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082C2-D592-D459-2322-3D0AA717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8F0C6-2698-E3E2-5173-3684D237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284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D68B8E-59C4-0F0F-CC84-0C3614C35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764693-2E35-168D-C666-7289D6B14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6BE6B7-05D4-11B0-92B2-C87567AA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F80F2F-941F-4413-CB1B-E5948C45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D6AC1E-183B-D2C4-49CC-920D80B4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944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106436-AD71-38D4-8DF1-DF253C3D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BABE94-8E46-CFAF-24D8-1E93DFC83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CBB97-F776-2EE5-81AC-721B65C32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DD1A1-B91B-0D41-A258-6923E1FEA8AA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719E3-1211-F608-A609-12F23EFD6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892C9-0B05-9C76-3ACC-120C32352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5C484-AC53-FB49-9BEE-E3A3E25615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89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CBB1-F9DD-E4DC-5D5A-BD9A38C0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ED193-461A-83F0-8F69-BB16B07C6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080"/>
            <a:ext cx="13367188" cy="625365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2.4 Evaluation Criteria:</a:t>
            </a:r>
            <a:br>
              <a:rPr lang="en-US" altLang="ko-KR" sz="2400" b="1" dirty="0"/>
            </a:br>
            <a:r>
              <a:rPr lang="en-US" altLang="ko-KR" sz="2400" b="1" dirty="0"/>
              <a:t>Unified, Hypothesis-Driven Assessment</a:t>
            </a:r>
            <a:endParaRPr lang="ko-KR" altLang="en-US" sz="2400" b="1" dirty="0"/>
          </a:p>
        </p:txBody>
      </p:sp>
      <p:pic>
        <p:nvPicPr>
          <p:cNvPr id="4" name="Picture 12" descr="UFr – Germany – NATOUR">
            <a:extLst>
              <a:ext uri="{FF2B5EF4-FFF2-40B4-BE49-F238E27FC236}">
                <a16:creationId xmlns:a16="http://schemas.microsoft.com/office/drawing/2014/main" id="{29B57F00-897A-A7A4-8B95-97FF3595B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00" y="890085"/>
            <a:ext cx="1527358" cy="49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Yonsei University">
            <a:extLst>
              <a:ext uri="{FF2B5EF4-FFF2-40B4-BE49-F238E27FC236}">
                <a16:creationId xmlns:a16="http://schemas.microsoft.com/office/drawing/2014/main" id="{D0BDE235-23AA-2E78-3B96-51C96EC8D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201" y="919477"/>
            <a:ext cx="1527358" cy="46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303A13-26C6-6AD2-B393-3D1A391E762D}"/>
              </a:ext>
            </a:extLst>
          </p:cNvPr>
          <p:cNvSpPr/>
          <p:nvPr/>
        </p:nvSpPr>
        <p:spPr>
          <a:xfrm>
            <a:off x="229164" y="1751095"/>
            <a:ext cx="2606565" cy="4481540"/>
          </a:xfrm>
          <a:prstGeom prst="roundRect">
            <a:avLst>
              <a:gd name="adj" fmla="val 1134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endParaRPr lang="en-US" altLang="ko-KR" sz="1600" b="1" dirty="0">
              <a:solidFill>
                <a:schemeClr val="tx1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Focus: </a:t>
            </a:r>
            <a:r>
              <a:rPr lang="en-US" altLang="ko-KR" sz="1500" b="1" dirty="0">
                <a:solidFill>
                  <a:schemeClr val="tx1"/>
                </a:solidFill>
              </a:rPr>
              <a:t>Signal Fidelity &amp; Physics-Based Encoding</a:t>
            </a:r>
          </a:p>
          <a:p>
            <a:r>
              <a:rPr lang="en-US" altLang="ko-KR" sz="1600" b="1" dirty="0">
                <a:solidFill>
                  <a:schemeClr val="tx1"/>
                </a:solidFill>
              </a:rPr>
              <a:t>Key Metrics: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-RSME &amp; SNR Improvement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-Compression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vs.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Fidelity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Trade-off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-Stability under Perturbations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F2DEE70-38DB-B694-4D8D-B31442E11009}"/>
              </a:ext>
            </a:extLst>
          </p:cNvPr>
          <p:cNvSpPr/>
          <p:nvPr/>
        </p:nvSpPr>
        <p:spPr>
          <a:xfrm>
            <a:off x="328274" y="1488399"/>
            <a:ext cx="2408346" cy="668061"/>
          </a:xfrm>
          <a:prstGeom prst="roundRect">
            <a:avLst>
              <a:gd name="adj" fmla="val 50000"/>
            </a:avLst>
          </a:prstGeom>
          <a:solidFill>
            <a:srgbClr val="6796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60" b="1" dirty="0"/>
              <a:t>1. Signal-level Evaluation (German lead)</a:t>
            </a:r>
            <a:endParaRPr lang="ko-KR" altLang="en-US" sz="1360" b="1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092FD5A-2498-29DB-A7BC-ADA1B6C066AF}"/>
              </a:ext>
            </a:extLst>
          </p:cNvPr>
          <p:cNvSpPr/>
          <p:nvPr/>
        </p:nvSpPr>
        <p:spPr>
          <a:xfrm>
            <a:off x="3410607" y="1751095"/>
            <a:ext cx="2606565" cy="4481540"/>
          </a:xfrm>
          <a:prstGeom prst="roundRect">
            <a:avLst>
              <a:gd name="adj" fmla="val 1134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Focus: </a:t>
            </a:r>
            <a:r>
              <a:rPr lang="en-US" altLang="ko-KR" sz="1500" b="1" dirty="0">
                <a:solidFill>
                  <a:schemeClr val="tx1"/>
                </a:solidFill>
              </a:rPr>
              <a:t>Structural Inference &amp; Robustness</a:t>
            </a:r>
          </a:p>
          <a:p>
            <a:r>
              <a:rPr lang="en-US" altLang="ko-KR" sz="1600" b="1" dirty="0">
                <a:solidFill>
                  <a:schemeClr val="tx1"/>
                </a:solidFill>
              </a:rPr>
              <a:t>Key Metrics: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-Geometric Accuracy (RSME)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-Scene Completeness &amp; Coverage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-Semantic Segmentation (</a:t>
            </a:r>
            <a:r>
              <a:rPr lang="en-US" altLang="ko-KR" sz="1600" dirty="0" err="1">
                <a:solidFill>
                  <a:schemeClr val="tx1"/>
                </a:solidFill>
              </a:rPr>
              <a:t>mIoU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B740CFC-F5E2-E049-79FD-6B317A49B20C}"/>
              </a:ext>
            </a:extLst>
          </p:cNvPr>
          <p:cNvSpPr/>
          <p:nvPr/>
        </p:nvSpPr>
        <p:spPr>
          <a:xfrm>
            <a:off x="3497143" y="1488399"/>
            <a:ext cx="2408346" cy="668061"/>
          </a:xfrm>
          <a:prstGeom prst="roundRect">
            <a:avLst>
              <a:gd name="adj" fmla="val 50000"/>
            </a:avLst>
          </a:prstGeom>
          <a:solidFill>
            <a:srgbClr val="6796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2. Structure-level</a:t>
            </a:r>
          </a:p>
          <a:p>
            <a:pPr algn="ctr"/>
            <a:r>
              <a:rPr lang="en-US" altLang="ko-KR" sz="1400" b="1" dirty="0"/>
              <a:t>Evaluation (Korean lead)</a:t>
            </a:r>
            <a:endParaRPr lang="ko-KR" altLang="en-US" sz="1400" b="1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0E71A92-A3CB-857E-661A-A807ADD9FF03}"/>
              </a:ext>
            </a:extLst>
          </p:cNvPr>
          <p:cNvSpPr/>
          <p:nvPr/>
        </p:nvSpPr>
        <p:spPr>
          <a:xfrm>
            <a:off x="6566903" y="1751095"/>
            <a:ext cx="2606565" cy="4481540"/>
          </a:xfrm>
          <a:prstGeom prst="roundRect">
            <a:avLst>
              <a:gd name="adj" fmla="val 1134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b="1" dirty="0">
              <a:solidFill>
                <a:schemeClr val="tx1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Focus: </a:t>
            </a:r>
            <a:r>
              <a:rPr lang="en-US" altLang="ko-KR" sz="1500" b="1" dirty="0">
                <a:solidFill>
                  <a:schemeClr val="tx1"/>
                </a:solidFill>
              </a:rPr>
              <a:t>End-to-End &amp; Casual Linkage</a:t>
            </a:r>
          </a:p>
          <a:p>
            <a:r>
              <a:rPr lang="en-US" altLang="ko-KR" sz="1600" b="1" dirty="0">
                <a:solidFill>
                  <a:schemeClr val="tx1"/>
                </a:solidFill>
              </a:rPr>
              <a:t>Key Metrics: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-Lab &amp; Field Tests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(Controlled/Real)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-Benchmarks Comparison (Sonar/FWA)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-Causal Signal-to-Structure Translation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9E7C484-6C4D-F8AC-76A9-465233A2F861}"/>
              </a:ext>
            </a:extLst>
          </p:cNvPr>
          <p:cNvSpPr/>
          <p:nvPr/>
        </p:nvSpPr>
        <p:spPr>
          <a:xfrm>
            <a:off x="6653439" y="1488399"/>
            <a:ext cx="2408346" cy="668061"/>
          </a:xfrm>
          <a:prstGeom prst="roundRect">
            <a:avLst>
              <a:gd name="adj" fmla="val 50000"/>
            </a:avLst>
          </a:prstGeom>
          <a:solidFill>
            <a:srgbClr val="6796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3. Joint System-level</a:t>
            </a:r>
          </a:p>
          <a:p>
            <a:pPr algn="ctr"/>
            <a:r>
              <a:rPr lang="en-US" altLang="ko-KR" sz="1400" b="1" dirty="0"/>
              <a:t>Validation (Integration)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8716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4C990EE-8425-34C5-72C8-9776A7397E2D}"/>
              </a:ext>
            </a:extLst>
          </p:cNvPr>
          <p:cNvSpPr/>
          <p:nvPr/>
        </p:nvSpPr>
        <p:spPr>
          <a:xfrm>
            <a:off x="254000" y="1140355"/>
            <a:ext cx="3302000" cy="2921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Waveform Representation</a:t>
            </a: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Learning</a:t>
            </a:r>
            <a:endParaRPr kumimoji="1"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6BFCD8A-280A-985E-4032-56C76A3CEABC}"/>
              </a:ext>
            </a:extLst>
          </p:cNvPr>
          <p:cNvSpPr/>
          <p:nvPr/>
        </p:nvSpPr>
        <p:spPr>
          <a:xfrm>
            <a:off x="3937000" y="1245460"/>
            <a:ext cx="4318000" cy="2921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Unified Framework:</a:t>
            </a: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Nonlinear Underwater Optical Propagation</a:t>
            </a:r>
            <a:endParaRPr kumimoji="1"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E205196-1AA8-83E6-2435-A29DBAC59B31}"/>
              </a:ext>
            </a:extLst>
          </p:cNvPr>
          <p:cNvSpPr/>
          <p:nvPr/>
        </p:nvSpPr>
        <p:spPr>
          <a:xfrm>
            <a:off x="8636000" y="1245460"/>
            <a:ext cx="3302000" cy="2921000"/>
          </a:xfrm>
          <a:prstGeom prst="roundRect">
            <a:avLst/>
          </a:prstGeom>
          <a:blipFill dpi="0" rotWithShape="1">
            <a:blip r:embed="rId4">
              <a:alphaModFix amt="66916"/>
            </a:blip>
            <a:srcRect/>
            <a:stretch>
              <a:fillRect/>
            </a:stretch>
          </a:blip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4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Structural Inverse</a:t>
            </a:r>
          </a:p>
          <a:p>
            <a:pPr algn="ctr"/>
            <a:r>
              <a:rPr kumimoji="1" lang="en" altLang="ko-KR" sz="1400" b="1" dirty="0">
                <a:solidFill>
                  <a:srgbClr val="000000"/>
                </a:solidFill>
              </a:rPr>
              <a:t>Inference</a:t>
            </a:r>
            <a:endParaRPr kumimoji="1"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C4BB92A4-EA2C-936D-E18E-F5F4BB1AC326}"/>
              </a:ext>
            </a:extLst>
          </p:cNvPr>
          <p:cNvSpPr/>
          <p:nvPr/>
        </p:nvSpPr>
        <p:spPr>
          <a:xfrm>
            <a:off x="3581400" y="2261460"/>
            <a:ext cx="317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왼쪽 화살표[L] 6">
            <a:extLst>
              <a:ext uri="{FF2B5EF4-FFF2-40B4-BE49-F238E27FC236}">
                <a16:creationId xmlns:a16="http://schemas.microsoft.com/office/drawing/2014/main" id="{CBE07DA6-0724-665B-8B71-933DAA878CFE}"/>
              </a:ext>
            </a:extLst>
          </p:cNvPr>
          <p:cNvSpPr/>
          <p:nvPr/>
        </p:nvSpPr>
        <p:spPr>
          <a:xfrm>
            <a:off x="3581400" y="3023460"/>
            <a:ext cx="317500" cy="190500"/>
          </a:xfrm>
          <a:prstGeom prst="lef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C541B518-EFB2-289C-8EDE-5C327BD1FE20}"/>
              </a:ext>
            </a:extLst>
          </p:cNvPr>
          <p:cNvSpPr/>
          <p:nvPr/>
        </p:nvSpPr>
        <p:spPr>
          <a:xfrm>
            <a:off x="8280400" y="2261460"/>
            <a:ext cx="317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왼쪽 화살표[L] 8">
            <a:extLst>
              <a:ext uri="{FF2B5EF4-FFF2-40B4-BE49-F238E27FC236}">
                <a16:creationId xmlns:a16="http://schemas.microsoft.com/office/drawing/2014/main" id="{E03CB961-88CF-1837-BCF9-567170B35A2B}"/>
              </a:ext>
            </a:extLst>
          </p:cNvPr>
          <p:cNvSpPr/>
          <p:nvPr/>
        </p:nvSpPr>
        <p:spPr>
          <a:xfrm>
            <a:off x="8280400" y="3023460"/>
            <a:ext cx="317500" cy="190500"/>
          </a:xfrm>
          <a:prstGeom prst="lef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DA3B5F1-F93D-A4C0-CF7C-905579D8B3C8}"/>
              </a:ext>
            </a:extLst>
          </p:cNvPr>
          <p:cNvSpPr/>
          <p:nvPr/>
        </p:nvSpPr>
        <p:spPr>
          <a:xfrm>
            <a:off x="254000" y="4547460"/>
            <a:ext cx="5588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>
                <a:solidFill>
                  <a:srgbClr val="FFFFFF"/>
                </a:solidFill>
              </a:rPr>
              <a:t>Research Scope &amp; Platform</a:t>
            </a:r>
            <a:endParaRPr kumimoji="1"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4117109-B959-A43D-7B08-973CD8A4378B}"/>
              </a:ext>
            </a:extLst>
          </p:cNvPr>
          <p:cNvSpPr/>
          <p:nvPr/>
        </p:nvSpPr>
        <p:spPr>
          <a:xfrm>
            <a:off x="6096000" y="4547460"/>
            <a:ext cx="5842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>
                <a:solidFill>
                  <a:srgbClr val="FFFFFF"/>
                </a:solidFill>
              </a:rPr>
              <a:t>36 MONTHS JOINT IMPLEMENTATION</a:t>
            </a:r>
            <a:endParaRPr kumimoji="1"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72D9B35-8E64-56D4-5C5F-94A6E7ADEC9C}"/>
              </a:ext>
            </a:extLst>
          </p:cNvPr>
          <p:cNvSpPr/>
          <p:nvPr/>
        </p:nvSpPr>
        <p:spPr>
          <a:xfrm>
            <a:off x="6096000" y="4864960"/>
            <a:ext cx="5842000" cy="1460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2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2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2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2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200" b="1" dirty="0">
                <a:solidFill>
                  <a:srgbClr val="000000"/>
                </a:solidFill>
              </a:rPr>
              <a:t>WP1 (Germany Lead)   -&gt;   WP2 (Korea Lead)   -&gt;   WP3 (Joint Lead)</a:t>
            </a:r>
            <a:endParaRPr kumimoji="1"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3EA52E3A-61B7-747C-1F28-26F3E6D3587E}"/>
              </a:ext>
            </a:extLst>
          </p:cNvPr>
          <p:cNvSpPr txBox="1">
            <a:spLocks/>
          </p:cNvSpPr>
          <p:nvPr/>
        </p:nvSpPr>
        <p:spPr>
          <a:xfrm>
            <a:off x="0" y="31530"/>
            <a:ext cx="13367188" cy="6253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/>
              <a:t>3.1 Overall Research Strategy</a:t>
            </a:r>
          </a:p>
          <a:p>
            <a:r>
              <a:rPr lang="en-US" altLang="ko-KR" sz="2400" b="1" dirty="0"/>
              <a:t> Complete Research Strategy &amp; Implementation Plan</a:t>
            </a:r>
            <a:endParaRPr lang="ko-KR" altLang="en-US" sz="2400" b="1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DC52484-E06F-C157-89A2-A9E86D809A43}"/>
              </a:ext>
            </a:extLst>
          </p:cNvPr>
          <p:cNvSpPr/>
          <p:nvPr/>
        </p:nvSpPr>
        <p:spPr>
          <a:xfrm>
            <a:off x="254000" y="4864960"/>
            <a:ext cx="5588000" cy="1460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0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0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000" b="1" dirty="0">
                <a:solidFill>
                  <a:srgbClr val="000000"/>
                </a:solidFill>
              </a:rPr>
              <a:t>Fraunhofer IPM LiDAR Prototype  -&gt;  Theoretical &amp; Methodological Advancement</a:t>
            </a:r>
            <a:endParaRPr kumimoji="1" lang="ko-KR" altLang="en-US" sz="1000" b="1" dirty="0">
              <a:solidFill>
                <a:srgbClr val="000000"/>
              </a:solidFill>
            </a:endParaRPr>
          </a:p>
        </p:txBody>
      </p:sp>
      <p:pic>
        <p:nvPicPr>
          <p:cNvPr id="28" name="그림 27" descr="사람, 의류, 인간의 얼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0D4E89-DDCB-7ECD-6C21-DC5B8F753D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530" r="10654"/>
          <a:stretch>
            <a:fillRect/>
          </a:stretch>
        </p:blipFill>
        <p:spPr>
          <a:xfrm>
            <a:off x="3478890" y="5031445"/>
            <a:ext cx="1645301" cy="1009957"/>
          </a:xfrm>
          <a:prstGeom prst="rect">
            <a:avLst/>
          </a:prstGeom>
        </p:spPr>
      </p:pic>
      <p:pic>
        <p:nvPicPr>
          <p:cNvPr id="30" name="그림 29" descr="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023DA7-4EA7-9EE5-14C2-CC67668542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24" r="27695" b="14416"/>
          <a:stretch>
            <a:fillRect/>
          </a:stretch>
        </p:blipFill>
        <p:spPr>
          <a:xfrm>
            <a:off x="899238" y="5069052"/>
            <a:ext cx="1294220" cy="934745"/>
          </a:xfrm>
          <a:prstGeom prst="rect">
            <a:avLst/>
          </a:prstGeom>
        </p:spPr>
      </p:pic>
      <p:pic>
        <p:nvPicPr>
          <p:cNvPr id="33" name="그림 32" descr="레드, 오렌지, 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870E1C-C2A9-6477-0AD0-D3EBFC986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623" y="4987302"/>
            <a:ext cx="1587500" cy="1054100"/>
          </a:xfrm>
          <a:prstGeom prst="rect">
            <a:avLst/>
          </a:prstGeom>
        </p:spPr>
      </p:pic>
      <p:pic>
        <p:nvPicPr>
          <p:cNvPr id="35" name="그림 34" descr="그래픽, 로고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B6734A-FE57-67A6-5DC2-A8EAD87959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7661" y="4987302"/>
            <a:ext cx="1739900" cy="1054100"/>
          </a:xfrm>
          <a:prstGeom prst="rect">
            <a:avLst/>
          </a:prstGeom>
        </p:spPr>
      </p:pic>
      <p:pic>
        <p:nvPicPr>
          <p:cNvPr id="37" name="그림 36" descr="원, 텍스트, 로고, 공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AAF2B-6AC9-0C0E-C491-0FB0E36F82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323" t="7353" r="3671" b="15020"/>
          <a:stretch>
            <a:fillRect/>
          </a:stretch>
        </p:blipFill>
        <p:spPr>
          <a:xfrm>
            <a:off x="10182738" y="5006192"/>
            <a:ext cx="15875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6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BF62579-3C46-0835-957E-18731A3DD6C8}"/>
              </a:ext>
            </a:extLst>
          </p:cNvPr>
          <p:cNvSpPr/>
          <p:nvPr/>
        </p:nvSpPr>
        <p:spPr>
          <a:xfrm>
            <a:off x="254000" y="1403118"/>
            <a:ext cx="1905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A) Learning-Based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Waveform Encoding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CBD519C-4306-7521-D0BC-140E41CAAE11}"/>
              </a:ext>
            </a:extLst>
          </p:cNvPr>
          <p:cNvSpPr/>
          <p:nvPr/>
        </p:nvSpPr>
        <p:spPr>
          <a:xfrm>
            <a:off x="254000" y="1974618"/>
            <a:ext cx="1905000" cy="450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2000" b="1" dirty="0">
                <a:solidFill>
                  <a:srgbClr val="000000"/>
                </a:solidFill>
              </a:rPr>
              <a:t>
</a:t>
            </a: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Goal: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Preserve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Geometry-Sensitive Descriptors</a:t>
            </a:r>
            <a:endParaRPr kumimoji="1"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9D03EF21-2FCF-AD8F-88B4-89D3C6184B6A}"/>
              </a:ext>
            </a:extLst>
          </p:cNvPr>
          <p:cNvSpPr/>
          <p:nvPr/>
        </p:nvSpPr>
        <p:spPr>
          <a:xfrm>
            <a:off x="2184400" y="3689118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94C78C4-A08A-23FF-D060-9293A38870B8}"/>
              </a:ext>
            </a:extLst>
          </p:cNvPr>
          <p:cNvSpPr/>
          <p:nvPr/>
        </p:nvSpPr>
        <p:spPr>
          <a:xfrm>
            <a:off x="2413000" y="1403118"/>
            <a:ext cx="1905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B) Latent Space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Structure Analysis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3C084DA-08BB-E321-2014-28C35042958A}"/>
              </a:ext>
            </a:extLst>
          </p:cNvPr>
          <p:cNvSpPr/>
          <p:nvPr/>
        </p:nvSpPr>
        <p:spPr>
          <a:xfrm>
            <a:off x="2413000" y="1974618"/>
            <a:ext cx="1905000" cy="450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2000" b="1" dirty="0">
                <a:solidFill>
                  <a:srgbClr val="000000"/>
                </a:solidFill>
              </a:rPr>
              <a:t>
</a:t>
            </a: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Goal: 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Analyze Evolution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under Perturbation</a:t>
            </a:r>
            <a:endParaRPr kumimoji="1"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057D85A5-518C-9DB1-9168-C4ED20D03E68}"/>
              </a:ext>
            </a:extLst>
          </p:cNvPr>
          <p:cNvSpPr/>
          <p:nvPr/>
        </p:nvSpPr>
        <p:spPr>
          <a:xfrm>
            <a:off x="4392670" y="3689118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40866D4-3001-CC0C-3082-3A6A1DB759E6}"/>
              </a:ext>
            </a:extLst>
          </p:cNvPr>
          <p:cNvSpPr/>
          <p:nvPr/>
        </p:nvSpPr>
        <p:spPr>
          <a:xfrm>
            <a:off x="4619918" y="1403118"/>
            <a:ext cx="1980762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C) Neural Architecture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Optimization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288CE49-9FE8-2D9E-3F43-554FD9DD6787}"/>
              </a:ext>
            </a:extLst>
          </p:cNvPr>
          <p:cNvSpPr/>
          <p:nvPr/>
        </p:nvSpPr>
        <p:spPr>
          <a:xfrm>
            <a:off x="4619918" y="1974618"/>
            <a:ext cx="1980762" cy="450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Goal: 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Establish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Compression-Information Trade-offs</a:t>
            </a:r>
            <a:endParaRPr kumimoji="1"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BA8CD946-09E7-5C9B-AC72-3A6AD1B3FEBB}"/>
              </a:ext>
            </a:extLst>
          </p:cNvPr>
          <p:cNvSpPr/>
          <p:nvPr/>
        </p:nvSpPr>
        <p:spPr>
          <a:xfrm>
            <a:off x="6714795" y="3689118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9D353D2-431E-9F43-F18D-73D31E553CF6}"/>
              </a:ext>
            </a:extLst>
          </p:cNvPr>
          <p:cNvSpPr/>
          <p:nvPr/>
        </p:nvSpPr>
        <p:spPr>
          <a:xfrm>
            <a:off x="7067328" y="1403118"/>
            <a:ext cx="1905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D) Propagation-Aware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Modeling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0EABBB0-B3A6-F22B-4234-6AA42C694946}"/>
              </a:ext>
            </a:extLst>
          </p:cNvPr>
          <p:cNvSpPr/>
          <p:nvPr/>
        </p:nvSpPr>
        <p:spPr>
          <a:xfrm>
            <a:off x="7067328" y="1974618"/>
            <a:ext cx="1905000" cy="450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endParaRPr kumimoji="1" lang="en" altLang="ko-KR" sz="2000" b="1" dirty="0">
              <a:solidFill>
                <a:srgbClr val="000000"/>
              </a:solidFill>
            </a:endParaRP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Goal: </a:t>
            </a:r>
          </a:p>
          <a:p>
            <a:r>
              <a:rPr kumimoji="1" lang="en" altLang="ko-KR" sz="2000" b="1" dirty="0">
                <a:solidFill>
                  <a:srgbClr val="000000"/>
                </a:solidFill>
              </a:rPr>
              <a:t>Consistency</a:t>
            </a:r>
          </a:p>
          <a:p>
            <a:r>
              <a:rPr kumimoji="1" lang="en-US" altLang="ko-KR" sz="2000" b="1" dirty="0">
                <a:solidFill>
                  <a:srgbClr val="000000"/>
                </a:solidFill>
              </a:rPr>
              <a:t>by</a:t>
            </a:r>
            <a:r>
              <a:rPr kumimoji="1" lang="en" altLang="ko-KR" sz="2000" b="1" dirty="0">
                <a:solidFill>
                  <a:srgbClr val="000000"/>
                </a:solidFill>
              </a:rPr>
              <a:t> Optical Scattering Theory</a:t>
            </a:r>
            <a:endParaRPr kumimoji="1"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504F3A8-050C-64F1-2C08-FEE22ACDD01B}"/>
              </a:ext>
            </a:extLst>
          </p:cNvPr>
          <p:cNvSpPr/>
          <p:nvPr/>
        </p:nvSpPr>
        <p:spPr>
          <a:xfrm>
            <a:off x="9408942" y="1403118"/>
            <a:ext cx="2613138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>
                <a:solidFill>
                  <a:srgbClr val="FFFFFF"/>
                </a:solidFill>
              </a:rPr>
              <a:t>WP1 FINAL OUTCOME</a:t>
            </a:r>
            <a:endParaRPr kumimoji="1"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0CAA3BD-37B7-139B-84F8-4FC92BF057CD}"/>
              </a:ext>
            </a:extLst>
          </p:cNvPr>
          <p:cNvSpPr/>
          <p:nvPr/>
        </p:nvSpPr>
        <p:spPr>
          <a:xfrm>
            <a:off x="9408942" y="1974618"/>
            <a:ext cx="2613138" cy="450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" altLang="ko-KR" sz="25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2500" b="1" dirty="0">
                <a:solidFill>
                  <a:srgbClr val="000000"/>
                </a:solidFill>
              </a:rPr>
              <a:t>Preserves Structural</a:t>
            </a:r>
          </a:p>
          <a:p>
            <a:pPr algn="ctr"/>
            <a:r>
              <a:rPr kumimoji="1" lang="en" altLang="ko-KR" sz="2500" b="1" dirty="0">
                <a:solidFill>
                  <a:srgbClr val="000000"/>
                </a:solidFill>
              </a:rPr>
              <a:t>Signal</a:t>
            </a:r>
            <a:r>
              <a:rPr kumimoji="1" lang="ko-KR" altLang="en-US" sz="2500" b="1" dirty="0">
                <a:solidFill>
                  <a:srgbClr val="000000"/>
                </a:solidFill>
              </a:rPr>
              <a:t> </a:t>
            </a:r>
            <a:r>
              <a:rPr kumimoji="1" lang="en" altLang="ko-KR" sz="2500" b="1" dirty="0">
                <a:solidFill>
                  <a:srgbClr val="000000"/>
                </a:solidFill>
              </a:rPr>
              <a:t>Content</a:t>
            </a:r>
          </a:p>
          <a:p>
            <a:pPr algn="ctr"/>
            <a:r>
              <a:rPr kumimoji="1" lang="en" altLang="ko-KR" sz="2500" b="1" dirty="0">
                <a:solidFill>
                  <a:srgbClr val="000000"/>
                </a:solidFill>
              </a:rPr>
              <a:t>WHILE Enabling Efficient Encoding</a:t>
            </a:r>
            <a:endParaRPr kumimoji="1" lang="ko-KR" altLang="en-US" sz="2500" b="1" dirty="0">
              <a:solidFill>
                <a:srgbClr val="000000"/>
              </a:solidFill>
            </a:endParaRP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74074B56-2440-74C0-57B6-C12A81D60BC0}"/>
              </a:ext>
            </a:extLst>
          </p:cNvPr>
          <p:cNvSpPr/>
          <p:nvPr/>
        </p:nvSpPr>
        <p:spPr>
          <a:xfrm>
            <a:off x="9134361" y="3689118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08B330FC-7924-7C8B-A1EE-1A9089A7324A}"/>
              </a:ext>
            </a:extLst>
          </p:cNvPr>
          <p:cNvSpPr txBox="1">
            <a:spLocks/>
          </p:cNvSpPr>
          <p:nvPr/>
        </p:nvSpPr>
        <p:spPr>
          <a:xfrm>
            <a:off x="0" y="84080"/>
            <a:ext cx="13367188" cy="6253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/>
              <a:t>WP1:</a:t>
            </a:r>
          </a:p>
          <a:p>
            <a:r>
              <a:rPr lang="en-US" altLang="ko-KR" sz="2400" b="1" dirty="0"/>
              <a:t>Fundamental Waveform Representation and </a:t>
            </a:r>
          </a:p>
          <a:p>
            <a:r>
              <a:rPr lang="en-US" altLang="ko-KR" sz="2400" b="1" dirty="0"/>
              <a:t>Nonlinear Propagation Modeling</a:t>
            </a:r>
            <a:endParaRPr lang="ko-KR" altLang="en-US" sz="24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7424DA-7969-F797-8D7E-DCAFC7AE3BE2}"/>
              </a:ext>
            </a:extLst>
          </p:cNvPr>
          <p:cNvSpPr/>
          <p:nvPr/>
        </p:nvSpPr>
        <p:spPr>
          <a:xfrm>
            <a:off x="367264" y="2151727"/>
            <a:ext cx="167847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Pulse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Asymmetry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Multi-peak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Interactions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Higher-order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moments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EE7D21-EC2D-DF69-FAF4-581B9E13A95F}"/>
              </a:ext>
            </a:extLst>
          </p:cNvPr>
          <p:cNvSpPr/>
          <p:nvPr/>
        </p:nvSpPr>
        <p:spPr>
          <a:xfrm>
            <a:off x="2592374" y="2151726"/>
            <a:ext cx="1546256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Varying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Turbidity &amp;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Attenuation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Stability &amp;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Robustness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Assessed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15E54-AF91-7394-C0CE-C86B8354965F}"/>
              </a:ext>
            </a:extLst>
          </p:cNvPr>
          <p:cNvSpPr/>
          <p:nvPr/>
        </p:nvSpPr>
        <p:spPr>
          <a:xfrm>
            <a:off x="7118781" y="2151726"/>
            <a:ext cx="1802096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Physics-Based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Interaction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(Laser-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Medium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-Object)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6C9D38-DE0E-4C2E-5C47-622EB76DE128}"/>
              </a:ext>
            </a:extLst>
          </p:cNvPr>
          <p:cNvSpPr/>
          <p:nvPr/>
        </p:nvSpPr>
        <p:spPr>
          <a:xfrm>
            <a:off x="4867948" y="2151727"/>
            <a:ext cx="148470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Constraints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Minimal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Complexity</a:t>
            </a:r>
          </a:p>
          <a:p>
            <a:pPr algn="ctr"/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Waveform </a:t>
            </a:r>
          </a:p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Fidelity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854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AEF89D8-7CD4-B51F-F1DF-898E47C30C3C}"/>
              </a:ext>
            </a:extLst>
          </p:cNvPr>
          <p:cNvSpPr/>
          <p:nvPr/>
        </p:nvSpPr>
        <p:spPr>
          <a:xfrm>
            <a:off x="381000" y="887240"/>
            <a:ext cx="7874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>
                <a:solidFill>
                  <a:srgbClr val="FFFFFF"/>
                </a:solidFill>
              </a:rPr>
              <a:t>C) Motion-Induced Distortion Modeling</a:t>
            </a:r>
            <a:endParaRPr kumimoji="1"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D4976BE-4BDD-C3B3-0505-CC0DC9BC0B49}"/>
              </a:ext>
            </a:extLst>
          </p:cNvPr>
          <p:cNvSpPr/>
          <p:nvPr/>
        </p:nvSpPr>
        <p:spPr>
          <a:xfrm>
            <a:off x="381000" y="1268240"/>
            <a:ext cx="7874000" cy="6350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90500" rtlCol="0" anchor="ctr"/>
          <a:lstStyle/>
          <a:p>
            <a:endParaRPr kumimoji="1" lang="ko-KR" altLang="en-US" sz="1100" dirty="0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7F9560E-6BBE-281B-32D9-FD6A05BEE5BD}"/>
              </a:ext>
            </a:extLst>
          </p:cNvPr>
          <p:cNvSpPr/>
          <p:nvPr/>
        </p:nvSpPr>
        <p:spPr>
          <a:xfrm>
            <a:off x="381000" y="2093740"/>
            <a:ext cx="7874000" cy="2857500"/>
          </a:xfrm>
          <a:prstGeom prst="roundRect">
            <a:avLst/>
          </a:prstGeom>
          <a:noFill/>
          <a:ln w="25400" cap="flat" cmpd="sng" algn="ctr">
            <a:solidFill>
              <a:srgbClr val="DDEAF8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D69DA91-8D06-F401-3BD1-7AF264247A7D}"/>
              </a:ext>
            </a:extLst>
          </p:cNvPr>
          <p:cNvSpPr/>
          <p:nvPr/>
        </p:nvSpPr>
        <p:spPr>
          <a:xfrm>
            <a:off x="508000" y="2220740"/>
            <a:ext cx="3683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 dirty="0">
                <a:solidFill>
                  <a:srgbClr val="FFFFFF"/>
                </a:solidFill>
              </a:rPr>
              <a:t>A) Physics-Informed Inverse Learning</a:t>
            </a:r>
          </a:p>
          <a:p>
            <a:pPr algn="ctr"/>
            <a:r>
              <a:rPr kumimoji="1" lang="en" altLang="ko-KR" sz="1200" b="1" dirty="0">
                <a:solidFill>
                  <a:srgbClr val="FFFFFF"/>
                </a:solidFill>
              </a:rPr>
              <a:t>(Hybrid Loss Functions)</a:t>
            </a:r>
            <a:endParaRPr kumimoji="1" lang="ko-KR" altLang="en-US" sz="1200" b="1" dirty="0">
              <a:solidFill>
                <a:srgbClr val="FFFFFF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3FFCE40-47DA-DC4B-4FAF-3C9943490780}"/>
              </a:ext>
            </a:extLst>
          </p:cNvPr>
          <p:cNvSpPr/>
          <p:nvPr/>
        </p:nvSpPr>
        <p:spPr>
          <a:xfrm>
            <a:off x="508000" y="2792240"/>
            <a:ext cx="3683000" cy="20320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200" dirty="0">
                <a:solidFill>
                  <a:srgbClr val="000000"/>
                </a:solidFill>
              </a:rPr>
              <a:t>Surface Curvature / Inclination / Discontinuities</a:t>
            </a:r>
            <a:endParaRPr kumimoji="1"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8B2A44A-EA2C-7052-DA98-816E7BC8FBA1}"/>
              </a:ext>
            </a:extLst>
          </p:cNvPr>
          <p:cNvSpPr/>
          <p:nvPr/>
        </p:nvSpPr>
        <p:spPr>
          <a:xfrm>
            <a:off x="4445000" y="2220740"/>
            <a:ext cx="3683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 dirty="0">
                <a:solidFill>
                  <a:srgbClr val="FFFFFF"/>
                </a:solidFill>
              </a:rPr>
              <a:t>B) Waveform-Conditioned</a:t>
            </a:r>
          </a:p>
          <a:p>
            <a:pPr algn="ctr"/>
            <a:r>
              <a:rPr kumimoji="1" lang="en" altLang="ko-KR" sz="1200" b="1" dirty="0">
                <a:solidFill>
                  <a:srgbClr val="FFFFFF"/>
                </a:solidFill>
              </a:rPr>
              <a:t>Geometric Deep Learning</a:t>
            </a:r>
            <a:endParaRPr kumimoji="1" lang="ko-KR" altLang="en-US" sz="1200" b="1" dirty="0">
              <a:solidFill>
                <a:srgbClr val="FFFFFF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DF4BE78-D091-9573-80CE-F5CD7D6DBA68}"/>
              </a:ext>
            </a:extLst>
          </p:cNvPr>
          <p:cNvSpPr/>
          <p:nvPr/>
        </p:nvSpPr>
        <p:spPr>
          <a:xfrm>
            <a:off x="4445000" y="2792240"/>
            <a:ext cx="3683000" cy="20320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100" dirty="0">
              <a:solidFill>
                <a:srgbClr val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F2D5372-109F-359C-40D9-1D3F75FCE649}"/>
              </a:ext>
            </a:extLst>
          </p:cNvPr>
          <p:cNvSpPr/>
          <p:nvPr/>
        </p:nvSpPr>
        <p:spPr>
          <a:xfrm>
            <a:off x="381000" y="5141740"/>
            <a:ext cx="4445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>
                <a:solidFill>
                  <a:srgbClr val="FFFFFF"/>
                </a:solidFill>
              </a:rPr>
              <a:t>D) Anomaly and Degradation Detection</a:t>
            </a:r>
            <a:endParaRPr kumimoji="1"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BC02ED4-53C2-0BFF-89DC-5C54A0484973}"/>
              </a:ext>
            </a:extLst>
          </p:cNvPr>
          <p:cNvSpPr/>
          <p:nvPr/>
        </p:nvSpPr>
        <p:spPr>
          <a:xfrm>
            <a:off x="381000" y="5522740"/>
            <a:ext cx="4445000" cy="1333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93DCF09-75AD-EAE3-498B-3C0C5670A36D}"/>
              </a:ext>
            </a:extLst>
          </p:cNvPr>
          <p:cNvSpPr/>
          <p:nvPr/>
        </p:nvSpPr>
        <p:spPr>
          <a:xfrm>
            <a:off x="4953000" y="5141740"/>
            <a:ext cx="3302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>
                <a:solidFill>
                  <a:srgbClr val="FFFFFF"/>
                </a:solidFill>
              </a:rPr>
              <a:t>E) Domain Adaptation and Generalization</a:t>
            </a:r>
            <a:endParaRPr kumimoji="1" lang="ko-KR" altLang="en-US" sz="1100" b="1">
              <a:solidFill>
                <a:srgbClr val="FFFFFF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0DC2DB7-C99A-A952-392B-48690884EF5C}"/>
              </a:ext>
            </a:extLst>
          </p:cNvPr>
          <p:cNvSpPr/>
          <p:nvPr/>
        </p:nvSpPr>
        <p:spPr>
          <a:xfrm>
            <a:off x="4953000" y="5522740"/>
            <a:ext cx="3302000" cy="1333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E83370F-58F4-B1D1-C80D-BE9EB6A6E78A}"/>
              </a:ext>
            </a:extLst>
          </p:cNvPr>
          <p:cNvSpPr/>
          <p:nvPr/>
        </p:nvSpPr>
        <p:spPr>
          <a:xfrm>
            <a:off x="8509000" y="887240"/>
            <a:ext cx="3302000" cy="762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200" b="1" dirty="0">
                <a:solidFill>
                  <a:srgbClr val="FFFFFF"/>
                </a:solidFill>
              </a:rPr>
              <a:t>WP2 FINAL OUTCOME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C9514F6-471E-EE47-C98F-1B553786671F}"/>
              </a:ext>
            </a:extLst>
          </p:cNvPr>
          <p:cNvSpPr/>
          <p:nvPr/>
        </p:nvSpPr>
        <p:spPr>
          <a:xfrm>
            <a:off x="8509000" y="1712740"/>
            <a:ext cx="3302000" cy="5143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3000" b="1" dirty="0">
                <a:solidFill>
                  <a:srgbClr val="000000"/>
                </a:solidFill>
              </a:rPr>
              <a:t>Theoretically Grounded</a:t>
            </a:r>
          </a:p>
          <a:p>
            <a:pPr algn="ctr"/>
            <a:r>
              <a:rPr kumimoji="1" lang="en-US" altLang="ko-KR" sz="3000" b="1" dirty="0">
                <a:solidFill>
                  <a:srgbClr val="000000"/>
                </a:solidFill>
              </a:rPr>
              <a:t>Signal-structure Coupling &amp;</a:t>
            </a:r>
          </a:p>
          <a:p>
            <a:pPr algn="ctr"/>
            <a:r>
              <a:rPr kumimoji="1" lang="en-US" altLang="ko-KR" sz="3000" b="1" dirty="0">
                <a:solidFill>
                  <a:srgbClr val="000000"/>
                </a:solidFill>
              </a:rPr>
              <a:t>Structured Inverse Modeling</a:t>
            </a:r>
            <a:endParaRPr kumimoji="1" lang="ko-KR" altLang="en-US" sz="3000" b="1" dirty="0">
              <a:solidFill>
                <a:srgbClr val="000000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8873759-2883-3514-F308-A8453E6A3658}"/>
              </a:ext>
            </a:extLst>
          </p:cNvPr>
          <p:cNvCxnSpPr/>
          <p:nvPr/>
        </p:nvCxnSpPr>
        <p:spPr>
          <a:xfrm>
            <a:off x="4318000" y="1903240"/>
            <a:ext cx="0" cy="190500"/>
          </a:xfrm>
          <a:prstGeom prst="straightConnector1">
            <a:avLst/>
          </a:prstGeom>
          <a:ln w="38100">
            <a:solidFill>
              <a:srgbClr val="6796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F1B93903-644D-6D56-65A3-69851175D162}"/>
              </a:ext>
            </a:extLst>
          </p:cNvPr>
          <p:cNvSpPr/>
          <p:nvPr/>
        </p:nvSpPr>
        <p:spPr>
          <a:xfrm>
            <a:off x="4191000" y="3300240"/>
            <a:ext cx="2540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3B385FB4-EECE-76DA-014C-4CFD3119C54D}"/>
              </a:ext>
            </a:extLst>
          </p:cNvPr>
          <p:cNvSpPr/>
          <p:nvPr/>
        </p:nvSpPr>
        <p:spPr>
          <a:xfrm>
            <a:off x="8255000" y="3300240"/>
            <a:ext cx="2540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위쪽 화살표[U] 18">
            <a:extLst>
              <a:ext uri="{FF2B5EF4-FFF2-40B4-BE49-F238E27FC236}">
                <a16:creationId xmlns:a16="http://schemas.microsoft.com/office/drawing/2014/main" id="{50F87240-A826-4AB8-3456-5A280EFC9DF2}"/>
              </a:ext>
            </a:extLst>
          </p:cNvPr>
          <p:cNvSpPr/>
          <p:nvPr/>
        </p:nvSpPr>
        <p:spPr>
          <a:xfrm>
            <a:off x="2540000" y="4951240"/>
            <a:ext cx="190500" cy="190500"/>
          </a:xfrm>
          <a:prstGeom prst="up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위쪽 화살표[U] 19">
            <a:extLst>
              <a:ext uri="{FF2B5EF4-FFF2-40B4-BE49-F238E27FC236}">
                <a16:creationId xmlns:a16="http://schemas.microsoft.com/office/drawing/2014/main" id="{63EBDD8A-951A-CA52-E178-3737B88FEF08}"/>
              </a:ext>
            </a:extLst>
          </p:cNvPr>
          <p:cNvSpPr/>
          <p:nvPr/>
        </p:nvSpPr>
        <p:spPr>
          <a:xfrm>
            <a:off x="6604000" y="4951240"/>
            <a:ext cx="190500" cy="190500"/>
          </a:xfrm>
          <a:prstGeom prst="up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2B043D11-53C9-B892-B7C6-8D26011AF062}"/>
              </a:ext>
            </a:extLst>
          </p:cNvPr>
          <p:cNvSpPr txBox="1">
            <a:spLocks/>
          </p:cNvSpPr>
          <p:nvPr/>
        </p:nvSpPr>
        <p:spPr>
          <a:xfrm>
            <a:off x="0" y="84080"/>
            <a:ext cx="13367188" cy="6253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/>
              <a:t>WP2:</a:t>
            </a:r>
          </a:p>
          <a:p>
            <a:r>
              <a:rPr lang="en-US" altLang="ko-KR" sz="2400" b="1" dirty="0"/>
              <a:t>Signal-Structure Coupling and Inverse Modeling Theory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D4B1B3-F544-5D77-BA02-7358DCFB1693}"/>
              </a:ext>
            </a:extLst>
          </p:cNvPr>
          <p:cNvSpPr/>
          <p:nvPr/>
        </p:nvSpPr>
        <p:spPr>
          <a:xfrm>
            <a:off x="619666" y="1396144"/>
            <a:ext cx="29546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Hydrodynamic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	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4738EF-9891-1501-700A-46DB6AD7440F}"/>
              </a:ext>
            </a:extLst>
          </p:cNvPr>
          <p:cNvSpPr/>
          <p:nvPr/>
        </p:nvSpPr>
        <p:spPr>
          <a:xfrm>
            <a:off x="4431571" y="1242256"/>
            <a:ext cx="36493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Spatio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-temporal Alignment &amp;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Uncertainty-aware Inference </a:t>
            </a:r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195A86E8-60C6-3B14-29D2-2F8BA1EB87E9}"/>
              </a:ext>
            </a:extLst>
          </p:cNvPr>
          <p:cNvSpPr/>
          <p:nvPr/>
        </p:nvSpPr>
        <p:spPr>
          <a:xfrm>
            <a:off x="3433892" y="1490866"/>
            <a:ext cx="870679" cy="212243"/>
          </a:xfrm>
          <a:prstGeom prst="rightArrow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EA6BC6-F54A-E15E-2CB2-DD14E9298A9B}"/>
              </a:ext>
            </a:extLst>
          </p:cNvPr>
          <p:cNvSpPr/>
          <p:nvPr/>
        </p:nvSpPr>
        <p:spPr>
          <a:xfrm>
            <a:off x="4984254" y="2954160"/>
            <a:ext cx="2544030" cy="17081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WP1 Latent Embedding</a:t>
            </a:r>
          </a:p>
          <a:p>
            <a:pPr algn="ctr"/>
            <a:r>
              <a:rPr lang="en-US" altLang="ko-KR" sz="1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  <a:p>
            <a:pPr algn="ctr"/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Graph-based / Transformer</a:t>
            </a:r>
          </a:p>
          <a:p>
            <a:pPr algn="ctr"/>
            <a:r>
              <a:rPr lang="en-US" altLang="ko-KR" sz="1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Point clouds</a:t>
            </a:r>
          </a:p>
          <a:p>
            <a:pPr algn="ctr"/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</a:p>
          <a:p>
            <a:pPr algn="ctr"/>
            <a:r>
              <a:rPr lang="en-US" altLang="ko-KR" sz="1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Multi-scale</a:t>
            </a:r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Geometric</a:t>
            </a:r>
          </a:p>
          <a:p>
            <a:pPr algn="ctr"/>
            <a:r>
              <a:rPr lang="en-US" altLang="ko-KR" sz="1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Consistency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AF2F422-183D-9B24-231A-ACA7122B36C9}"/>
              </a:ext>
            </a:extLst>
          </p:cNvPr>
          <p:cNvSpPr/>
          <p:nvPr/>
        </p:nvSpPr>
        <p:spPr>
          <a:xfrm>
            <a:off x="619666" y="3007271"/>
            <a:ext cx="95250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Loss =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12CBB3-A913-5754-5CF6-08F6D935A527}"/>
              </a:ext>
            </a:extLst>
          </p:cNvPr>
          <p:cNvSpPr/>
          <p:nvPr/>
        </p:nvSpPr>
        <p:spPr>
          <a:xfrm>
            <a:off x="1413825" y="2943390"/>
            <a:ext cx="26333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Geometric Reconstruction</a:t>
            </a:r>
          </a:p>
          <a:p>
            <a:pPr algn="ctr"/>
            <a:r>
              <a:rPr lang="en-US" altLang="ko-KR" sz="1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Waveform Reg</a:t>
            </a:r>
            <a:r>
              <a:rPr lang="en-US" altLang="ko-KR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ularization</a:t>
            </a:r>
            <a:endParaRPr lang="en-US" altLang="ko-KR" sz="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아래쪽 화살표[D] 31">
            <a:extLst>
              <a:ext uri="{FF2B5EF4-FFF2-40B4-BE49-F238E27FC236}">
                <a16:creationId xmlns:a16="http://schemas.microsoft.com/office/drawing/2014/main" id="{0CD8B654-BBF6-0B8A-61F0-51C7A7B27CA1}"/>
              </a:ext>
            </a:extLst>
          </p:cNvPr>
          <p:cNvSpPr/>
          <p:nvPr/>
        </p:nvSpPr>
        <p:spPr>
          <a:xfrm rot="3076900">
            <a:off x="1506294" y="3780686"/>
            <a:ext cx="303069" cy="643535"/>
          </a:xfrm>
          <a:prstGeom prst="downArrow">
            <a:avLst>
              <a:gd name="adj1" fmla="val 24938"/>
              <a:gd name="adj2" fmla="val 55622"/>
            </a:avLst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아래쪽 화살표[D] 32">
            <a:extLst>
              <a:ext uri="{FF2B5EF4-FFF2-40B4-BE49-F238E27FC236}">
                <a16:creationId xmlns:a16="http://schemas.microsoft.com/office/drawing/2014/main" id="{70EC9E59-284D-71F8-663F-57FE5D59DD72}"/>
              </a:ext>
            </a:extLst>
          </p:cNvPr>
          <p:cNvSpPr/>
          <p:nvPr/>
        </p:nvSpPr>
        <p:spPr>
          <a:xfrm rot="18866671">
            <a:off x="2946531" y="3780685"/>
            <a:ext cx="303069" cy="643535"/>
          </a:xfrm>
          <a:prstGeom prst="downArrow">
            <a:avLst>
              <a:gd name="adj1" fmla="val 24938"/>
              <a:gd name="adj2" fmla="val 55622"/>
            </a:avLst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아래쪽 화살표[D] 33">
            <a:extLst>
              <a:ext uri="{FF2B5EF4-FFF2-40B4-BE49-F238E27FC236}">
                <a16:creationId xmlns:a16="http://schemas.microsoft.com/office/drawing/2014/main" id="{34A91874-EC76-08B8-A75A-4019DA8B620E}"/>
              </a:ext>
            </a:extLst>
          </p:cNvPr>
          <p:cNvSpPr/>
          <p:nvPr/>
        </p:nvSpPr>
        <p:spPr>
          <a:xfrm>
            <a:off x="2314958" y="3790138"/>
            <a:ext cx="303069" cy="643535"/>
          </a:xfrm>
          <a:prstGeom prst="downArrow">
            <a:avLst>
              <a:gd name="adj1" fmla="val 24938"/>
              <a:gd name="adj2" fmla="val 55622"/>
            </a:avLst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09A19B6-30E6-2789-A147-4F6BE3F84A26}"/>
              </a:ext>
            </a:extLst>
          </p:cNvPr>
          <p:cNvSpPr/>
          <p:nvPr/>
        </p:nvSpPr>
        <p:spPr>
          <a:xfrm>
            <a:off x="4914936" y="5835547"/>
            <a:ext cx="13976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Controlled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0767E3D-14CA-6E79-1C8E-791375E5ACE1}"/>
              </a:ext>
            </a:extLst>
          </p:cNvPr>
          <p:cNvSpPr/>
          <p:nvPr/>
        </p:nvSpPr>
        <p:spPr>
          <a:xfrm>
            <a:off x="6670272" y="5835547"/>
            <a:ext cx="164615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Operational</a:t>
            </a:r>
          </a:p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</a:p>
        </p:txBody>
      </p:sp>
      <p:sp>
        <p:nvSpPr>
          <p:cNvPr id="37" name="오른쪽 화살표[R] 36">
            <a:extLst>
              <a:ext uri="{FF2B5EF4-FFF2-40B4-BE49-F238E27FC236}">
                <a16:creationId xmlns:a16="http://schemas.microsoft.com/office/drawing/2014/main" id="{056B8B7B-3B40-C7CD-D333-8E769E4B5C98}"/>
              </a:ext>
            </a:extLst>
          </p:cNvPr>
          <p:cNvSpPr/>
          <p:nvPr/>
        </p:nvSpPr>
        <p:spPr>
          <a:xfrm>
            <a:off x="6299563" y="6123838"/>
            <a:ext cx="417284" cy="219709"/>
          </a:xfrm>
          <a:prstGeom prst="rightArrow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8B8C34D-545A-3609-5D9B-F4D6F99D7EB6}"/>
              </a:ext>
            </a:extLst>
          </p:cNvPr>
          <p:cNvSpPr/>
          <p:nvPr/>
        </p:nvSpPr>
        <p:spPr>
          <a:xfrm>
            <a:off x="6169009" y="5918607"/>
            <a:ext cx="62549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transfer</a:t>
            </a:r>
            <a:endParaRPr lang="en-US" altLang="ko-KR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66B7CC6-5267-CF1E-3844-ADD538CC60E1}"/>
              </a:ext>
            </a:extLst>
          </p:cNvPr>
          <p:cNvSpPr/>
          <p:nvPr/>
        </p:nvSpPr>
        <p:spPr>
          <a:xfrm>
            <a:off x="6150526" y="6279243"/>
            <a:ext cx="654346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learning</a:t>
            </a:r>
            <a:endParaRPr lang="en-US" altLang="ko-KR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AB02161-5EF8-A638-89A7-73D45A9F7F5B}"/>
              </a:ext>
            </a:extLst>
          </p:cNvPr>
          <p:cNvSpPr/>
          <p:nvPr/>
        </p:nvSpPr>
        <p:spPr>
          <a:xfrm>
            <a:off x="670373" y="5630291"/>
            <a:ext cx="39363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Erosion + Sediment + Barnacles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오른쪽 화살표[R] 40">
            <a:extLst>
              <a:ext uri="{FF2B5EF4-FFF2-40B4-BE49-F238E27FC236}">
                <a16:creationId xmlns:a16="http://schemas.microsoft.com/office/drawing/2014/main" id="{DC7E6BC2-9BAA-C575-C45D-8BCFE6F619B0}"/>
              </a:ext>
            </a:extLst>
          </p:cNvPr>
          <p:cNvSpPr/>
          <p:nvPr/>
        </p:nvSpPr>
        <p:spPr>
          <a:xfrm rot="5400000">
            <a:off x="2450937" y="6063986"/>
            <a:ext cx="318498" cy="240627"/>
          </a:xfrm>
          <a:prstGeom prst="rightArrow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9B78AD-F805-C17E-EEE0-5A75985F29FE}"/>
              </a:ext>
            </a:extLst>
          </p:cNvPr>
          <p:cNvSpPr/>
          <p:nvPr/>
        </p:nvSpPr>
        <p:spPr>
          <a:xfrm>
            <a:off x="306221" y="6327503"/>
            <a:ext cx="460792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Physics-consistent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389273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A599848-2BAE-C0EF-544C-2860EABD03D8}"/>
              </a:ext>
            </a:extLst>
          </p:cNvPr>
          <p:cNvSpPr/>
          <p:nvPr/>
        </p:nvSpPr>
        <p:spPr>
          <a:xfrm>
            <a:off x="254000" y="1203433"/>
            <a:ext cx="5334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>
                <a:solidFill>
                  <a:srgbClr val="FFFFFF"/>
                </a:solidFill>
              </a:rPr>
              <a:t>A) Controlled Experimental Parameterization (Germany Lead)</a:t>
            </a:r>
            <a:endParaRPr kumimoji="1" lang="ko-KR" altLang="en-US" sz="11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AB6374F-33B7-3937-B3B0-C74C24A90C42}"/>
              </a:ext>
            </a:extLst>
          </p:cNvPr>
          <p:cNvSpPr/>
          <p:nvPr/>
        </p:nvSpPr>
        <p:spPr>
          <a:xfrm>
            <a:off x="254000" y="1584433"/>
            <a:ext cx="5334000" cy="196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Vary Turbidity &amp; Attenuation    |    Vary Object Geometry    |    Isolate Causal Relationships</a:t>
            </a:r>
            <a:endParaRPr kumimoji="1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FBCA305-E917-63CD-8622-47D7C3E562A5}"/>
              </a:ext>
            </a:extLst>
          </p:cNvPr>
          <p:cNvSpPr/>
          <p:nvPr/>
        </p:nvSpPr>
        <p:spPr>
          <a:xfrm>
            <a:off x="254000" y="3743433"/>
            <a:ext cx="5334000" cy="3175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>
                <a:solidFill>
                  <a:srgbClr val="FFFFFF"/>
                </a:solidFill>
              </a:rPr>
              <a:t>B) Field Validation in Hydraulic Infrastructure (Korea Lead)</a:t>
            </a:r>
            <a:endParaRPr kumimoji="1" lang="ko-KR" altLang="en-US" sz="1100" b="1">
              <a:solidFill>
                <a:srgbClr val="FFFFFF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9E60FA6-AEE8-4751-E3D2-975E1440DCF5}"/>
              </a:ext>
            </a:extLst>
          </p:cNvPr>
          <p:cNvSpPr/>
          <p:nvPr/>
        </p:nvSpPr>
        <p:spPr>
          <a:xfrm>
            <a:off x="254000" y="4124433"/>
            <a:ext cx="5334000" cy="1968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endParaRPr kumimoji="1" lang="en" altLang="ko-KR" sz="1000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000" dirty="0">
                <a:solidFill>
                  <a:srgbClr val="000000"/>
                </a:solidFill>
              </a:rPr>
              <a:t>Heterogeneous Turbidity    |    Complex Structural Geometries    |    Scientific Stress Tests</a:t>
            </a:r>
            <a:endParaRPr kumimoji="1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0958236-B0D4-D4E4-6C14-15D1288CE047}"/>
              </a:ext>
            </a:extLst>
          </p:cNvPr>
          <p:cNvSpPr/>
          <p:nvPr/>
        </p:nvSpPr>
        <p:spPr>
          <a:xfrm>
            <a:off x="5842000" y="2219433"/>
            <a:ext cx="2540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C) Cross-Site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Comparative Analysis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2279527-9C0F-CEB4-0E9B-0E8D5B4C7484}"/>
              </a:ext>
            </a:extLst>
          </p:cNvPr>
          <p:cNvSpPr/>
          <p:nvPr/>
        </p:nvSpPr>
        <p:spPr>
          <a:xfrm>
            <a:off x="5842000" y="2790933"/>
            <a:ext cx="2540000" cy="22225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00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endParaRPr kumimoji="1" lang="en" altLang="ko-KR" sz="1000">
              <a:solidFill>
                <a:srgbClr val="000000"/>
              </a:solidFill>
            </a:endParaRPr>
          </a:p>
          <a:p>
            <a:pPr algn="ctr"/>
            <a:r>
              <a:rPr kumimoji="1" lang="en" altLang="ko-KR" sz="1000">
                <a:solidFill>
                  <a:srgbClr val="000000"/>
                </a:solidFill>
              </a:rPr>
              <a:t>Lab Data vs. Field Data
</a:t>
            </a:r>
          </a:p>
          <a:p>
            <a:pPr algn="ctr"/>
            <a:r>
              <a:rPr kumimoji="1" lang="en" altLang="ko-KR" sz="1000">
                <a:solidFill>
                  <a:srgbClr val="000000"/>
                </a:solidFill>
              </a:rPr>
              <a:t>Assess Domain Shift &amp; Model Robustness</a:t>
            </a:r>
            <a:endParaRPr kumimoji="1" lang="ko-KR" altLang="en-US" sz="1000">
              <a:solidFill>
                <a:srgbClr val="0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F6514F4-B602-FE52-8459-265AC1E04550}"/>
              </a:ext>
            </a:extLst>
          </p:cNvPr>
          <p:cNvSpPr/>
          <p:nvPr/>
        </p:nvSpPr>
        <p:spPr>
          <a:xfrm>
            <a:off x="8636000" y="1203433"/>
            <a:ext cx="3302000" cy="508000"/>
          </a:xfrm>
          <a:prstGeom prst="roundRect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D) End-to-End Signal-Structure</a:t>
            </a:r>
          </a:p>
          <a:p>
            <a:pPr algn="ctr"/>
            <a:r>
              <a:rPr kumimoji="1" lang="en" altLang="ko-KR" sz="1100" b="1" dirty="0">
                <a:solidFill>
                  <a:srgbClr val="FFFFFF"/>
                </a:solidFill>
              </a:rPr>
              <a:t>WP3 FINAL OUTCOME</a:t>
            </a:r>
            <a:endParaRPr kumimoji="1"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6C4E160-74EB-185C-6A1B-4E79AD0F615E}"/>
              </a:ext>
            </a:extLst>
          </p:cNvPr>
          <p:cNvSpPr/>
          <p:nvPr/>
        </p:nvSpPr>
        <p:spPr>
          <a:xfrm>
            <a:off x="8636000" y="1774933"/>
            <a:ext cx="3302000" cy="4318000"/>
          </a:xfrm>
          <a:prstGeom prst="roundRect">
            <a:avLst/>
          </a:prstGeom>
          <a:solidFill>
            <a:srgbClr val="DDEAF8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1100" b="1" dirty="0">
                <a:solidFill>
                  <a:srgbClr val="000000"/>
                </a:solidFill>
              </a:rPr>
              <a:t>
</a:t>
            </a: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100" b="1" dirty="0">
                <a:solidFill>
                  <a:srgbClr val="000000"/>
                </a:solidFill>
              </a:rPr>
              <a:t>Complete Pipeline Evaluation
</a:t>
            </a:r>
          </a:p>
          <a:p>
            <a:pPr algn="ctr"/>
            <a:r>
              <a:rPr kumimoji="1" lang="en" altLang="ko-KR" sz="1100" b="1" dirty="0">
                <a:solidFill>
                  <a:srgbClr val="000000"/>
                </a:solidFill>
              </a:rPr>
              <a:t>vs. Deterministic FWA &amp; Sonar Benchmarks
</a:t>
            </a: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endParaRPr kumimoji="1" lang="en" altLang="ko-KR" sz="1100" b="1" dirty="0">
              <a:solidFill>
                <a:srgbClr val="000000"/>
              </a:solidFill>
            </a:endParaRPr>
          </a:p>
          <a:p>
            <a:pPr algn="ctr"/>
            <a:r>
              <a:rPr kumimoji="1" lang="en" altLang="ko-KR" sz="1100" b="1" dirty="0">
                <a:solidFill>
                  <a:srgbClr val="000000"/>
                </a:solidFill>
              </a:rPr>
              <a:t>Validated Unified Signal-Structure Framework</a:t>
            </a:r>
            <a:endParaRPr kumimoji="1" lang="ko-KR" altLang="en-US" sz="1100" b="1" dirty="0">
              <a:solidFill>
                <a:srgbClr val="000000"/>
              </a:solidFill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51FB775F-DDD0-DA7A-CAEE-5E6885A854EF}"/>
              </a:ext>
            </a:extLst>
          </p:cNvPr>
          <p:cNvSpPr/>
          <p:nvPr/>
        </p:nvSpPr>
        <p:spPr>
          <a:xfrm>
            <a:off x="5613400" y="2346433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F4C3DFA7-1162-8AD0-B6E9-33A6247FB3DF}"/>
              </a:ext>
            </a:extLst>
          </p:cNvPr>
          <p:cNvSpPr/>
          <p:nvPr/>
        </p:nvSpPr>
        <p:spPr>
          <a:xfrm>
            <a:off x="5613400" y="4886433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A46C6F9F-4EFF-7F74-FC23-A0E7F07B909B}"/>
              </a:ext>
            </a:extLst>
          </p:cNvPr>
          <p:cNvSpPr/>
          <p:nvPr/>
        </p:nvSpPr>
        <p:spPr>
          <a:xfrm>
            <a:off x="8407400" y="3743433"/>
            <a:ext cx="190500" cy="190500"/>
          </a:xfrm>
          <a:prstGeom prst="rightArrow">
            <a:avLst/>
          </a:prstGeom>
          <a:solidFill>
            <a:srgbClr val="6796E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53B22C1-062C-5212-8E08-26C23C5FF558}"/>
              </a:ext>
            </a:extLst>
          </p:cNvPr>
          <p:cNvSpPr txBox="1">
            <a:spLocks/>
          </p:cNvSpPr>
          <p:nvPr/>
        </p:nvSpPr>
        <p:spPr>
          <a:xfrm>
            <a:off x="0" y="84080"/>
            <a:ext cx="13367188" cy="6253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/>
              <a:t>WP3:</a:t>
            </a:r>
          </a:p>
          <a:p>
            <a:r>
              <a:rPr lang="en-US" altLang="ko-KR" sz="2400" b="1" dirty="0"/>
              <a:t>Integrated Validation and Cross-Environment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622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478</Words>
  <Application>Microsoft Macintosh PowerPoint</Application>
  <PresentationFormat>와이드스크린</PresentationFormat>
  <Paragraphs>268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2.4 Evaluation Criteria: Unified, Hypothesis-Driven Assessment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윤성욱</dc:creator>
  <cp:lastModifiedBy>윤성욱</cp:lastModifiedBy>
  <cp:revision>7</cp:revision>
  <dcterms:created xsi:type="dcterms:W3CDTF">2026-03-03T05:35:48Z</dcterms:created>
  <dcterms:modified xsi:type="dcterms:W3CDTF">2026-03-04T04:52:54Z</dcterms:modified>
</cp:coreProperties>
</file>